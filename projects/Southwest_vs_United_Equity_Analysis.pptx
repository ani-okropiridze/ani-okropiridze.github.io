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C388A-A31E-A3E7-3C28-80974A480556}" v="73" dt="2026-04-15T20:40:21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Mukherjee" userId="S::rm1880@scarletmail.rutgers.edu::692b745e-cd84-4604-95f6-0a2fe3df6325" providerId="AD" clId="Web-{181C388A-A31E-A3E7-3C28-80974A480556}"/>
    <pc:docChg chg="modSld sldOrd">
      <pc:chgData name="Ryan Mukherjee" userId="S::rm1880@scarletmail.rutgers.edu::692b745e-cd84-4604-95f6-0a2fe3df6325" providerId="AD" clId="Web-{181C388A-A31E-A3E7-3C28-80974A480556}" dt="2026-04-15T20:40:21.982" v="71"/>
      <pc:docMkLst>
        <pc:docMk/>
      </pc:docMkLst>
      <pc:sldChg chg="addSp delSp modSp">
        <pc:chgData name="Ryan Mukherjee" userId="S::rm1880@scarletmail.rutgers.edu::692b745e-cd84-4604-95f6-0a2fe3df6325" providerId="AD" clId="Web-{181C388A-A31E-A3E7-3C28-80974A480556}" dt="2026-04-15T18:16:49.927" v="48" actId="14100"/>
        <pc:sldMkLst>
          <pc:docMk/>
          <pc:sldMk cId="0" sldId="256"/>
        </pc:sldMkLst>
        <pc:spChg chg="mod">
          <ac:chgData name="Ryan Mukherjee" userId="S::rm1880@scarletmail.rutgers.edu::692b745e-cd84-4604-95f6-0a2fe3df6325" providerId="AD" clId="Web-{181C388A-A31E-A3E7-3C28-80974A480556}" dt="2026-04-15T18:15:12.550" v="39" actId="14100"/>
          <ac:spMkLst>
            <pc:docMk/>
            <pc:sldMk cId="0" sldId="256"/>
            <ac:spMk id="5" creationId="{00000000-0000-0000-0000-000000000000}"/>
          </ac:spMkLst>
        </pc:spChg>
        <pc:picChg chg="add del mod">
          <ac:chgData name="Ryan Mukherjee" userId="S::rm1880@scarletmail.rutgers.edu::692b745e-cd84-4604-95f6-0a2fe3df6325" providerId="AD" clId="Web-{181C388A-A31E-A3E7-3C28-80974A480556}" dt="2026-04-15T18:16:08.348" v="41"/>
          <ac:picMkLst>
            <pc:docMk/>
            <pc:sldMk cId="0" sldId="256"/>
            <ac:picMk id="10" creationId="{B6CAAA87-8DAC-D4D1-A682-FFCF20C4D0DB}"/>
          </ac:picMkLst>
        </pc:picChg>
        <pc:picChg chg="add mod">
          <ac:chgData name="Ryan Mukherjee" userId="S::rm1880@scarletmail.rutgers.edu::692b745e-cd84-4604-95f6-0a2fe3df6325" providerId="AD" clId="Web-{181C388A-A31E-A3E7-3C28-80974A480556}" dt="2026-04-15T18:16:23.692" v="44" actId="1076"/>
          <ac:picMkLst>
            <pc:docMk/>
            <pc:sldMk cId="0" sldId="256"/>
            <ac:picMk id="11" creationId="{14C3B57C-38AA-7ABB-D301-2E99852F7B7C}"/>
          </ac:picMkLst>
        </pc:picChg>
        <pc:picChg chg="add mod">
          <ac:chgData name="Ryan Mukherjee" userId="S::rm1880@scarletmail.rutgers.edu::692b745e-cd84-4604-95f6-0a2fe3df6325" providerId="AD" clId="Web-{181C388A-A31E-A3E7-3C28-80974A480556}" dt="2026-04-15T18:16:49.927" v="48" actId="14100"/>
          <ac:picMkLst>
            <pc:docMk/>
            <pc:sldMk cId="0" sldId="256"/>
            <ac:picMk id="12" creationId="{F3851B04-A326-EB6D-9F52-458A8726D0B5}"/>
          </ac:picMkLst>
        </pc:picChg>
      </pc:sldChg>
      <pc:sldChg chg="modSp">
        <pc:chgData name="Ryan Mukherjee" userId="S::rm1880@scarletmail.rutgers.edu::692b745e-cd84-4604-95f6-0a2fe3df6325" providerId="AD" clId="Web-{181C388A-A31E-A3E7-3C28-80974A480556}" dt="2026-04-15T18:19:22.416" v="55" actId="20577"/>
        <pc:sldMkLst>
          <pc:docMk/>
          <pc:sldMk cId="0" sldId="257"/>
        </pc:sldMkLst>
        <pc:spChg chg="mod">
          <ac:chgData name="Ryan Mukherjee" userId="S::rm1880@scarletmail.rutgers.edu::692b745e-cd84-4604-95f6-0a2fe3df6325" providerId="AD" clId="Web-{181C388A-A31E-A3E7-3C28-80974A480556}" dt="2026-04-14T16:20:07.266" v="11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Ryan Mukherjee" userId="S::rm1880@scarletmail.rutgers.edu::692b745e-cd84-4604-95f6-0a2fe3df6325" providerId="AD" clId="Web-{181C388A-A31E-A3E7-3C28-80974A480556}" dt="2026-04-15T18:19:03.242" v="50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Ryan Mukherjee" userId="S::rm1880@scarletmail.rutgers.edu::692b745e-cd84-4604-95f6-0a2fe3df6325" providerId="AD" clId="Web-{181C388A-A31E-A3E7-3C28-80974A480556}" dt="2026-04-15T18:19:12.571" v="53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yan Mukherjee" userId="S::rm1880@scarletmail.rutgers.edu::692b745e-cd84-4604-95f6-0a2fe3df6325" providerId="AD" clId="Web-{181C388A-A31E-A3E7-3C28-80974A480556}" dt="2026-04-15T18:19:22.416" v="55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yan Mukherjee" userId="S::rm1880@scarletmail.rutgers.edu::692b745e-cd84-4604-95f6-0a2fe3df6325" providerId="AD" clId="Web-{181C388A-A31E-A3E7-3C28-80974A480556}" dt="2026-04-15T18:19:16.572" v="54" actId="20577"/>
          <ac:spMkLst>
            <pc:docMk/>
            <pc:sldMk cId="0" sldId="257"/>
            <ac:spMk id="27" creationId="{00000000-0000-0000-0000-000000000000}"/>
          </ac:spMkLst>
        </pc:spChg>
      </pc:sldChg>
      <pc:sldChg chg="addSp delSp modSp">
        <pc:chgData name="Ryan Mukherjee" userId="S::rm1880@scarletmail.rutgers.edu::692b745e-cd84-4604-95f6-0a2fe3df6325" providerId="AD" clId="Web-{181C388A-A31E-A3E7-3C28-80974A480556}" dt="2026-04-15T18:20:14.874" v="60"/>
        <pc:sldMkLst>
          <pc:docMk/>
          <pc:sldMk cId="0" sldId="258"/>
        </pc:sldMkLst>
        <pc:picChg chg="add del mod">
          <ac:chgData name="Ryan Mukherjee" userId="S::rm1880@scarletmail.rutgers.edu::692b745e-cd84-4604-95f6-0a2fe3df6325" providerId="AD" clId="Web-{181C388A-A31E-A3E7-3C28-80974A480556}" dt="2026-04-15T18:20:14.874" v="60"/>
          <ac:picMkLst>
            <pc:docMk/>
            <pc:sldMk cId="0" sldId="258"/>
            <ac:picMk id="42" creationId="{64C47E18-8022-92C8-3FAD-5353078B7146}"/>
          </ac:picMkLst>
        </pc:picChg>
      </pc:sldChg>
      <pc:sldChg chg="modSp">
        <pc:chgData name="Ryan Mukherjee" userId="S::rm1880@scarletmail.rutgers.edu::692b745e-cd84-4604-95f6-0a2fe3df6325" providerId="AD" clId="Web-{181C388A-A31E-A3E7-3C28-80974A480556}" dt="2026-04-15T20:40:21.982" v="71"/>
        <pc:sldMkLst>
          <pc:docMk/>
          <pc:sldMk cId="0" sldId="264"/>
        </pc:sldMkLst>
        <pc:graphicFrameChg chg="mod modGraphic">
          <ac:chgData name="Ryan Mukherjee" userId="S::rm1880@scarletmail.rutgers.edu::692b745e-cd84-4604-95f6-0a2fe3df6325" providerId="AD" clId="Web-{181C388A-A31E-A3E7-3C28-80974A480556}" dt="2026-04-15T20:40:21.982" v="71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ord">
        <pc:chgData name="Ryan Mukherjee" userId="S::rm1880@scarletmail.rutgers.edu::692b745e-cd84-4604-95f6-0a2fe3df6325" providerId="AD" clId="Web-{181C388A-A31E-A3E7-3C28-80974A480556}" dt="2026-04-15T18:18:27.303" v="49"/>
        <pc:sldMkLst>
          <pc:docMk/>
          <pc:sldMk cId="0" sldId="26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Southwest (LUV)</c:v>
                </c:pt>
              </c:strCache>
            </c:strRef>
          </c:tx>
          <c:spPr>
            <a:solidFill>
              <a:srgbClr val="0B1D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23.8</c:v>
                </c:pt>
                <c:pt idx="1">
                  <c:v>26.1</c:v>
                </c:pt>
                <c:pt idx="2">
                  <c:v>27.5</c:v>
                </c:pt>
                <c:pt idx="3">
                  <c:v>28.1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EF-FB45-9FEE-61FB5530F2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United (UAL)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44.9</c:v>
                </c:pt>
                <c:pt idx="1">
                  <c:v>53.7</c:v>
                </c:pt>
                <c:pt idx="2">
                  <c:v>57.1</c:v>
                </c:pt>
                <c:pt idx="3">
                  <c:v>59.1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EF-FB45-9FEE-61FB5530F2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LUV Adj. EPS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  <c:pt idx="3">
                  <c:v>FY2026E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</c:v>
                </c:pt>
                <c:pt idx="1">
                  <c:v>0.96</c:v>
                </c:pt>
                <c:pt idx="2">
                  <c:v>0.93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4D-3147-98C8-75023968DC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UAL Adj. EPS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  <c:pt idx="3">
                  <c:v>FY2026E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10.050000000000001</c:v>
                </c:pt>
                <c:pt idx="1">
                  <c:v>10.61</c:v>
                </c:pt>
                <c:pt idx="2">
                  <c:v>10.62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4D-3147-98C8-75023968DC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591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Southwest Airlines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United Airlines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883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4E6F1"/>
                </a:solidFill>
                <a:ea typeface="+mn-lt"/>
                <a:cs typeface="+mn-lt"/>
              </a:rPr>
              <a:t>Ryan Mukherjee, Ani Okropiridze, Ayush Sathish, Alex </a:t>
            </a:r>
            <a:r>
              <a:rPr lang="en-US" sz="2000" dirty="0" err="1">
                <a:solidFill>
                  <a:srgbClr val="D4E6F1"/>
                </a:solidFill>
                <a:ea typeface="+mn-lt"/>
                <a:cs typeface="+mn-lt"/>
              </a:rPr>
              <a:t>Sendecki</a:t>
            </a:r>
            <a:r>
              <a:rPr lang="en-US" sz="2000" dirty="0">
                <a:solidFill>
                  <a:srgbClr val="D4E6F1"/>
                </a:solidFill>
                <a:ea typeface="+mn-lt"/>
                <a:cs typeface="+mn-lt"/>
              </a:rPr>
              <a:t>, Eira Sharma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274320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Analysis | Rutgers University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840480"/>
            <a:ext cx="640080" cy="640080"/>
          </a:xfrm>
          <a:prstGeom prst="rect">
            <a:avLst/>
          </a:prstGeom>
        </p:spPr>
      </p:pic>
      <p:pic>
        <p:nvPicPr>
          <p:cNvPr id="11" name="Picture 10" descr="File:Southwest Airlines logo 2014.svg ...">
            <a:extLst>
              <a:ext uri="{FF2B5EF4-FFF2-40B4-BE49-F238E27FC236}">
                <a16:creationId xmlns:a16="http://schemas.microsoft.com/office/drawing/2014/main" id="{14C3B57C-38AA-7ABB-D301-2E99852F7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669" y="279399"/>
            <a:ext cx="2439194" cy="385763"/>
          </a:xfrm>
          <a:prstGeom prst="rect">
            <a:avLst/>
          </a:prstGeom>
        </p:spPr>
      </p:pic>
      <p:pic>
        <p:nvPicPr>
          <p:cNvPr id="12" name="Picture 11" descr="File:United Airlines Logo.svg - Wikipedia">
            <a:extLst>
              <a:ext uri="{FF2B5EF4-FFF2-40B4-BE49-F238E27FC236}">
                <a16:creationId xmlns:a16="http://schemas.microsoft.com/office/drawing/2014/main" id="{F3851B04-A326-EB6D-9F52-458A8726D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318" y="675481"/>
            <a:ext cx="2451895" cy="434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solidFill>
                  <a:srgbClr val="0B1D3A"/>
                </a:solidFill>
                <a:latin typeface="Georgia"/>
              </a:rPr>
              <a:t>Table of Contents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3474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/>
                <a:ea typeface="Calibri"/>
                <a:cs typeface="Calibri"/>
              </a:rPr>
              <a:t>Company Overview &amp; Business Models</a:t>
            </a:r>
            <a:endParaRPr lang="en-US" sz="1500" b="1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02920" cy="347472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Profitability &amp; Margin Analysis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502920" cy="3474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057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&amp; Capital Structure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502920" cy="347472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5146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Strategy &amp; Operational Scale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02920" cy="3474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9718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/>
                <a:ea typeface="Calibri"/>
                <a:cs typeface="Calibri"/>
              </a:rPr>
              <a:t>Strategic Transformation Initiatives</a:t>
            </a:r>
            <a:endParaRPr lang="en-US" sz="1500" b="1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502920" cy="347472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Revenue &amp; Ancillary Monetization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502920" cy="3474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8862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/>
                <a:ea typeface="Calibri"/>
                <a:cs typeface="Calibri"/>
              </a:rPr>
              <a:t>Macro Headwind: The Iran/Jet Fuel Crisis</a:t>
            </a:r>
            <a:endParaRPr lang="en-US" sz="1500" b="1"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502920" cy="347472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4343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/>
                <a:ea typeface="Calibri"/>
                <a:cs typeface="Calibri"/>
              </a:rPr>
              <a:t>Risk Factors &amp; Investment Thesis</a:t>
            </a:r>
            <a:endParaRPr lang="en-US" sz="1500" b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Snapshots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Airlines (LUV)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Dallas, TX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84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984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Jordan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68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3682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Point-to-Point, Low-Cost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752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7523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803 aircraft (all Boeing 737)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136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~72,000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(FY25)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$28.1B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904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904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~$19.4B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42885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~$39.70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(UAL)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Chicago, 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984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1984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Kirby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2368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3682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Hub-and-Spoke, Full-Service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2752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7523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1,054+ mainline + 430 regional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136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~110,000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(FY25)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$59.1B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3904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3904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~$31.2B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4288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42885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~$96.45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35661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— Low-Cost Carrier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network — no hubs, minimal connections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fleet type (Boeing 737) lowers maintenance/training costs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Historically: open seating, no bag fees, no premium cabin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&amp; near-international focus only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aircraft utilization via fast turnarounds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brand loyalty among leisure travelers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73152" cy="356616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— Global Network Carrier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system across 7 major US hubs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fleet: 737 MAX, 787, 777, A321neo, A320 family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cabins (Polaris, Premium Plus) drive yield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Pacific network of any US carrier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181M+ passengers carried in 2025 (company record)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investment in premium product &amp; Starlink Wi-Fi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Trajectory — FY2022 to FY2025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914400"/>
          <a:ext cx="8046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carriers posted record revenue in FY2025. United generates 2.1x Southwest's revenue, reflecting its broader network and international reach.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Profitability — The Gap Is Stark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7863840" cy="307238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Southwest (LUV)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(UAL)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 (FY25)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GAAP 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Pre-Tax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$4.6B (adj. pre-tax)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~$2.3B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~$8.1B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United earns 7.7x more net income on 2.1x the revenue. Southwest's margins are razor-thin — the transformation plan is essential.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EPS Growth — Southwest's Inflection Point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guided FY2026 adj. EPS of at least $4.00 — a 300%+ increase. United guides $12–$14, representing ~20–30% growth. Southwest's stock surged 19% on guidance day.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 — A Tale of Two Multiples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LUV 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49.9x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P/E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~10x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P/E (on $4 guide)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Cap: ~$19.4B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Yield: ~1.8%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52-Wk Range: $23.82 – $55.11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Morningstar: 264% premium to FV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 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9.4x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P/E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~7.4x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6656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P/E (on $13 mid)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6517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Cap: ~$31.2B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Yield: None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52-Wk Range: $53.36 – $119.21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Morningstar: 520% premium to FV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Point: Is the market pricing LUV as a turnaround story? UAL trades at a classic cyclical discount — does it deserve better?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Structure &amp; Balance Sheet Health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932856"/>
              </p:ext>
            </p:extLst>
          </p:nvPr>
        </p:nvGraphicFramePr>
        <p:xfrm>
          <a:off x="731520" y="960120"/>
          <a:ext cx="7680960" cy="307238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Southwest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Leverage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/>
                          <a:ea typeface="Calibri"/>
                          <a:cs typeface="Calibri"/>
                        </a:rPr>
                        <a:t>2.4x</a:t>
                      </a:r>
                      <a:endParaRPr lang="en-US" sz="12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/>
                          <a:ea typeface="Calibri"/>
                          <a:cs typeface="Calibri"/>
                        </a:rPr>
                        <a:t>2.2x</a:t>
                      </a:r>
                      <a:endParaRPr lang="en-US" sz="12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Equivalents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$15.2B (avail. liquidity)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D/E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~39% (D/Capital)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Cash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~$3.5B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~$1.5B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Grade?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(maintained)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United's higher absolute debt ($25B vs $6.7B), its net leverage is actually lower (2.2x vs 2.4x) due to massive cash flow generation. Southwest retired $3.3B in debt in 2025.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Strategy — Simplicity vs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— 803 Aircraft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Boeing 737 variants (737-700, -800, -8 MAX)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fleet = lower training, parts, maintenance costs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Retiring older 737-700s; adding 737-8 MAX deliveries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6 seats from 737-700 for extra legroom rows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exposure: 100% dependent on Boeing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Boeing delivery delays directly cap growth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73152" cy="320040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— 1,054+ Mainline Aircraft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Multi-type: 737 MAX, 787, 777, 757, 767, A321neo, A320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~430 regional jets (E175, CRJ, ERJ-145)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100+ narrowbody + ~20 787 deliveries planned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narrowbody fleet already in Signature Interior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widebody intake since 1988 for any US airline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sourcing (Boeing + Airbus) reduces supply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Does Southwest's single-fleet simplicity create concentration risk, or is it a competitive advantage on unit costs?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Southwest's 2025–2026 Transformation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sweeping overhaul in Southwest's 54-year history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Seating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 54 years of open seating. Operational Jan 27, 2026. Extra legroom premium rows.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Fees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checked bag fees. Raised $10 in April 2026. Revenue diversification.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Interline Partners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partnership with Icelandair + 5 others. International connectivity.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51760" cy="5486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$2.5B Buyback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337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$2.6B in repurchases in 2025, retiring ~14% of shares outstanding.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8803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0" y="2880360"/>
            <a:ext cx="2651760" cy="54864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Revamp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337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Amended Chase co-brand deal. Record credit card spend. Dynamic redemption pricing.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88036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2880360"/>
            <a:ext cx="265176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6364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Discipline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337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10%+ corporate headcount reduction. Reduced turn times at 19 airports. 24-hr operations.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EBIT target: ~$3.8B (up from $574M in 2025). ROIC target: ≥15% by 2026.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Next — The Premium Playbook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54864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cabin revenue up 11% YoY in FY2025. Record 27.4M premium seats (12% of total). Polaris &amp; Premium Plus expanding.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Wi-Fi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across 300+ United Express aircraft. Mainline installations accelerating in 2026. Major CX differentiator.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51760" cy="54864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Interior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narrowbody fleet refreshed with new interiors. NPS +10 pts higher vs. old cabins. Full fleet targeted.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651760" cy="5486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Expansion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200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new domestic/Canadian routes + 13 international in 2025. Largest Pacific carrier. 303 widebody departures/day.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7432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0" y="2743200"/>
            <a:ext cx="265176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Modernization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200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new aircraft in 2025. 100+ narrowbody + 20 787s planned for 2026. Most widebody intake since 1988.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2743200"/>
            <a:ext cx="265176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200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seat cancel rate in history. First in on-time departures across all 7 hubs in FY2024. Self-service kiosk upgrades.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Shareholder Returns &amp; Capital Allocation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1920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Southwest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Repurchases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$2.6B (~14% of shares)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($0.72/yr, ~1.8% yield)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Returned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~$2.9B (buybacks + divs)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$640M (buyback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1-Year Stock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~flat (volatile)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+55% (52-wk range)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pursued aggressive capital return ($2.9B) despite thin margins — a clear signal to the market (and activist investors) that management is committed to shareholder value. United prioritized debt reduction and fleet investment, with share repurchases as secondary.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Is Southwest's aggressive buyback at low margins a value-creation strategy or a defensive move against Elliott Management's activist pressure?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&amp; Ancillary Revenue — The Revenue Quality Battle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210312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— Premium Leader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revenue +11% YoY (FY2025)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revenue +7% in Q4 2025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Economy revenue +20% in Q4 (price segmentation)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cargo revenue up 12% and 30% respectively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73152" cy="21031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— New Revenue Streams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legroom upsell from close-in bookings (new)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fees now generating revenue (new as of 2025)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co-brand credit card spend with Chase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Interline partnerships opening new markets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Analyst Question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has a proven premium monetization engine. Southwest is building one from scratch. The risk/reward profile here is asymmetric: Southwest has more upside if execution succeeds, but United has the track record. United's Q4 2024 showed basic economy growing 20% — proving they can monetize across ALL fare classes, not just premium.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43" y="256032"/>
            <a:ext cx="547153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Headwind: Iran War &amp; Jet Fuel Crisis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April 2026, the aviation industry faces its worst fuel crisis in years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8046720" cy="685800"/>
          </a:xfrm>
          <a:prstGeom prst="rect">
            <a:avLst/>
          </a:prstGeom>
          <a:solidFill>
            <a:srgbClr val="142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Strait of Hormuz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by Iran since Feb 28, 2026. Handles ~20% of global seaborne oil. Two-week ceasefire announced April 8.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8046720" cy="685800"/>
          </a:xfrm>
          <a:prstGeom prst="rect">
            <a:avLst/>
          </a:prstGeom>
          <a:solidFill>
            <a:srgbClr val="142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Fuel Prices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doubled since conflict began, far outpacing the ~50% rise in crude oil. IATA reports $209/barrel as of April 3.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solidFill>
            <a:srgbClr val="142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Response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3337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Delta: $2B extra fuel cost in Q2 alone, expects $4.30/gal. Airlines cutting capacity, raising bag fees $10, adding refueling stops.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solidFill>
            <a:srgbClr val="142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Timeline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IATA warns it could take months for supply to normalize even if Hormuz stays open. Refinery infrastructure damage is the bottleneck.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accounts for ~27% of airline operating expenses. This crisis disproportionately hits carriers without hedging or refinery assets.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Iran/Fuel Crisis — Relative Impact: LUV vs UAL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31089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Exposure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~45-46% hedged for 2025 (fuel hedging program)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Domestic-only network = no Hormuz route exposure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thin margins (~2%) mean fuel spikes hit EPS hard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bag fees $10 in April 2026 to offset costs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 issued Sell on April 1, citing fuel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Cowen cut PT from $56 to $46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73152" cy="310896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Exposure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owned refinery (unlike Delta's Trainer facility)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international route exposure to Middle East/Asia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margins (7.3%) provide more cushion than LUV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scale means higher absolute fuel costs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power helps offset: passengers pay up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still bullish per April 8 TipRanks notes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Southwest is more vulnerable on margins; United has more international route disruption risk but stronger pricing power as a buffer.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 Factors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Industry Risks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fuel volatility (Iran crisis), recession risk dampening travel demand, Boeing delivery delays, labor cost inflation, geopolitical disruptions, potential DOT regulatory pressure on ancillary fees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73152" cy="21031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Southwest-Specific Risks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execution risk — can they hit $3.8B EBIT?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erosion: loyal customers angry about bag fees &amp; seat changes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Boeing dependence = single point of failure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Razor-thin margins leave no room for error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2402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73152" cy="210312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United-Specific Risks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absolute debt ($25B) = interest rate sensitivity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 of 142% is elevated vs. peers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exposure to Middle East route disruptions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revenue declines in recession scenario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 Verdict: The Investment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142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Airlines (LUV)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300%+ EPS growth guidance is transformational. If $4+ EPS materializes, forward P/E compresses to ~10x. New revenue streams (bags, premium seats, interlines) are just beginning. WSJ #1 airline = brand strength.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risk is enormous. Fuel crisis could derail 2026 guidance. Goldman has a Sell. Morningstar says 264% premium to fair value. Brand may suffer from changes. Operating margin of 2% leaves zero buffer.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142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(UAL)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at 9.4x trailing P/E — cheap for a company guiding $12–$14 EPS. Premium revenue engine is proven. Massive fleet modernization underway. Starlink + Signature Interior drive NPS. FCF of $2.7B.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108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$25B in debt is the elephant in the room. D/E of 142%. No dividend means income investors stay away. International routes face Iran/geopolitical risk. Premium revenue vulnerable in recession.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View: UAL is the stronger business today. LUV is the higher-conviction turnaround bet. In an uncertain macro environment (Iran, fuel), I'd lean UAL for quality, LUV for optionality.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Open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SEC filings, company earnings releases (Jan 2026), CNBC, Reuters, IATA, Robinhood, Morningstar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2127</Words>
  <Application>Microsoft Macintosh PowerPoint</Application>
  <PresentationFormat>On-screen Show (16:9)</PresentationFormat>
  <Paragraphs>304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Southwest Airlines vs United Airlines — Equity Analyst Comparison</dc:title>
  <dc:subject>PptxGenJS Presentation</dc:subject>
  <dc:creator>Maanav</dc:creator>
  <cp:lastModifiedBy>Ani Okropiridze</cp:lastModifiedBy>
  <cp:revision>36</cp:revision>
  <dcterms:created xsi:type="dcterms:W3CDTF">2026-04-14T00:06:26Z</dcterms:created>
  <dcterms:modified xsi:type="dcterms:W3CDTF">2026-04-23T03:31:18Z</dcterms:modified>
</cp:coreProperties>
</file>